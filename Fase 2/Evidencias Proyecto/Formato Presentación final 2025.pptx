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6858000" cx="12192000"/>
  <p:notesSz cx="6858000" cy="9144000"/>
  <p:embeddedFontLst>
    <p:embeddedFont>
      <p:font typeface="Roboto Mon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hySIh7sfKvV224r5by5ugCx/oq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RobotoMono-bold.fntdata"/><Relationship Id="rId21" Type="http://schemas.openxmlformats.org/officeDocument/2006/relationships/font" Target="fonts/RobotoMono-regular.fntdata"/><Relationship Id="rId24" Type="http://schemas.openxmlformats.org/officeDocument/2006/relationships/font" Target="fonts/RobotoMono-boldItalic.fntdata"/><Relationship Id="rId23" Type="http://schemas.openxmlformats.org/officeDocument/2006/relationships/font" Target="fonts/RobotoMono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</a:rPr>
              <a:t>SkillTrack es una plataforma web para la gestión eficiente de talleres extracurriculares que automatiza la inscripción, evaluación del progreso, generación de reportes académicos y supervisión por parte de tutores. El problema identificado es la gestión manual e ineficiente de talleres extracurriculares. Nuestra solución automatiza tres procesos clave: automatización de procesos, generación de reportes inteligentes, y seguimiento personalizado de progreso en estudiantes.</a:t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-</a:t>
            </a:r>
            <a:r>
              <a:rPr lang="es-CL"/>
              <a:t>Aumentar la eficiencia operativa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Reducir en al menos un 40% el tiempo dedicado a tareas administrativas asociadas a la gestión de talleres, mediante la digitalización y centralización de procesos en el sistema web.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-Facilitar la toma de decisiones estratégicas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Proveer reportes automáticos y paneles de indicadores que permitan a los directivos acceder a datos clave (inscripciones, asistencia, rendimiento) en tiempo real y tomar decisiones informadas en menos de 48 horas tras el cierre de cada ciclo de talleres.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-Mejorar la transparencia y comunicación interna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Garantizar que el 100% de los participantes (alumnos, docentes y administradores) tengan acceso a información actualizada sobre talleres, inscripciones y resultados, a través de módulos de comunicación y notificaciones integrados en la plataforma.</a:t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</a:rPr>
              <a:t>- Alcances: Sistema completo con dashboards diferenciados para coordinadores y profesores, gestión de estudiantes, talleres, evidencias y reportes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</a:rPr>
              <a:t>- Limitaciones: Sistema enfocado específicamente en talleres extracurriculares, requiere conexión a internet</a:t>
            </a:r>
            <a:endParaRPr/>
          </a:p>
        </p:txBody>
      </p:sp>
      <p:sp>
        <p:nvSpPr>
          <p:cNvPr id="129" name="Google Shape;12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6777a7a67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8" name="Google Shape;138;g36777a7a672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671a6a8068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671a6a806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6b74e5ae06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6b74e5ae06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300">
                <a:solidFill>
                  <a:schemeClr val="dk1"/>
                </a:solidFill>
              </a:rPr>
              <a:t>1. Vista Lógica (Arquitectura funcional del sistema)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</a:rPr>
              <a:t>Representa los </a:t>
            </a:r>
            <a:r>
              <a:rPr b="1" lang="es-CL">
                <a:solidFill>
                  <a:schemeClr val="dk1"/>
                </a:solidFill>
              </a:rPr>
              <a:t>módulos clave del sistema</a:t>
            </a:r>
            <a:r>
              <a:rPr lang="es-CL">
                <a:solidFill>
                  <a:schemeClr val="dk1"/>
                </a:solidFill>
              </a:rPr>
              <a:t> y sus responsabilidades: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CL">
                <a:solidFill>
                  <a:schemeClr val="dk1"/>
                </a:solidFill>
              </a:rPr>
              <a:t>Gestión de Talleres (</a:t>
            </a:r>
            <a:r>
              <a:rPr b="1" lang="es-CL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GestionTalleres</a:t>
            </a:r>
            <a:r>
              <a:rPr b="1" lang="es-CL">
                <a:solidFill>
                  <a:schemeClr val="dk1"/>
                </a:solidFill>
              </a:rPr>
              <a:t>)</a:t>
            </a:r>
            <a:r>
              <a:rPr lang="es-CL">
                <a:solidFill>
                  <a:schemeClr val="dk1"/>
                </a:solidFill>
              </a:rPr>
              <a:t>: administra los talleres.</a:t>
            </a:r>
            <a:br>
              <a:rPr lang="es-CL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CL">
                <a:solidFill>
                  <a:schemeClr val="dk1"/>
                </a:solidFill>
              </a:rPr>
              <a:t>Gestión de Evidencias (</a:t>
            </a:r>
            <a:r>
              <a:rPr b="1" lang="es-CL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EvidenciasContent</a:t>
            </a:r>
            <a:r>
              <a:rPr b="1" lang="es-CL">
                <a:solidFill>
                  <a:schemeClr val="dk1"/>
                </a:solidFill>
              </a:rPr>
              <a:t>)</a:t>
            </a:r>
            <a:r>
              <a:rPr lang="es-CL">
                <a:solidFill>
                  <a:schemeClr val="dk1"/>
                </a:solidFill>
              </a:rPr>
              <a:t>: procesa las evidencias de estudiantes.</a:t>
            </a:r>
            <a:br>
              <a:rPr lang="es-CL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CL">
                <a:solidFill>
                  <a:schemeClr val="dk1"/>
                </a:solidFill>
              </a:rPr>
              <a:t>Gestión de Reportes (</a:t>
            </a:r>
            <a:r>
              <a:rPr b="1" lang="es-CL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GestionReportes</a:t>
            </a:r>
            <a:r>
              <a:rPr b="1" lang="es-CL">
                <a:solidFill>
                  <a:schemeClr val="dk1"/>
                </a:solidFill>
              </a:rPr>
              <a:t>)</a:t>
            </a:r>
            <a:r>
              <a:rPr lang="es-CL">
                <a:solidFill>
                  <a:schemeClr val="dk1"/>
                </a:solidFill>
              </a:rPr>
              <a:t>: genera reportes de rendimiento.</a:t>
            </a:r>
            <a:br>
              <a:rPr lang="es-CL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</a:rPr>
              <a:t>Cada uno opera sobre entidades claras: </a:t>
            </a:r>
            <a:r>
              <a:rPr lang="es-CL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Talleres</a:t>
            </a:r>
            <a:r>
              <a:rPr lang="es-CL">
                <a:solidFill>
                  <a:schemeClr val="dk1"/>
                </a:solidFill>
              </a:rPr>
              <a:t>, </a:t>
            </a:r>
            <a:r>
              <a:rPr lang="es-CL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Evidencias</a:t>
            </a:r>
            <a:r>
              <a:rPr lang="es-CL">
                <a:solidFill>
                  <a:schemeClr val="dk1"/>
                </a:solidFill>
              </a:rPr>
              <a:t>, </a:t>
            </a:r>
            <a:r>
              <a:rPr lang="es-CL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Reportes</a:t>
            </a:r>
            <a:r>
              <a:rPr lang="es-CL">
                <a:solidFill>
                  <a:schemeClr val="dk1"/>
                </a:solidFill>
              </a:rPr>
              <a:t>.</a:t>
            </a:r>
            <a:br>
              <a:rPr lang="es-CL">
                <a:solidFill>
                  <a:schemeClr val="dk1"/>
                </a:solidFill>
              </a:rPr>
            </a:br>
            <a:r>
              <a:rPr lang="es-CL">
                <a:solidFill>
                  <a:schemeClr val="dk1"/>
                </a:solidFill>
              </a:rPr>
              <a:t> El </a:t>
            </a:r>
            <a:r>
              <a:rPr b="1" lang="es-CL">
                <a:solidFill>
                  <a:schemeClr val="dk1"/>
                </a:solidFill>
              </a:rPr>
              <a:t>flujo de información</a:t>
            </a:r>
            <a:r>
              <a:rPr lang="es-CL">
                <a:solidFill>
                  <a:schemeClr val="dk1"/>
                </a:solidFill>
              </a:rPr>
              <a:t> conecta estos módulos a través del </a:t>
            </a:r>
            <a:r>
              <a:rPr b="1" lang="es-CL">
                <a:solidFill>
                  <a:schemeClr val="dk1"/>
                </a:solidFill>
              </a:rPr>
              <a:t>Frontend React</a:t>
            </a:r>
            <a:r>
              <a:rPr lang="es-CL">
                <a:solidFill>
                  <a:schemeClr val="dk1"/>
                </a:solidFill>
              </a:rPr>
              <a:t>, que consulta al </a:t>
            </a:r>
            <a:r>
              <a:rPr b="1" lang="es-CL">
                <a:solidFill>
                  <a:schemeClr val="dk1"/>
                </a:solidFill>
              </a:rPr>
              <a:t>Backend Supabase</a:t>
            </a:r>
            <a:r>
              <a:rPr lang="es-CL">
                <a:solidFill>
                  <a:schemeClr val="dk1"/>
                </a:solidFill>
              </a:rPr>
              <a:t> usando una API REST, respaldada por una base de datos </a:t>
            </a:r>
            <a:r>
              <a:rPr b="1" lang="es-CL">
                <a:solidFill>
                  <a:schemeClr val="dk1"/>
                </a:solidFill>
              </a:rPr>
              <a:t>PostgreSQL</a:t>
            </a:r>
            <a:r>
              <a:rPr lang="es-CL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300">
                <a:solidFill>
                  <a:schemeClr val="dk1"/>
                </a:solidFill>
              </a:rPr>
              <a:t>🧩 2. Vista de Desarrollo (Vista de implementación)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</a:rPr>
              <a:t>Se enfoca en cómo se estructura el </a:t>
            </a:r>
            <a:r>
              <a:rPr b="1" lang="es-CL">
                <a:solidFill>
                  <a:schemeClr val="dk1"/>
                </a:solidFill>
              </a:rPr>
              <a:t>código fuente</a:t>
            </a:r>
            <a:r>
              <a:rPr lang="es-CL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>
                <a:solidFill>
                  <a:schemeClr val="dk1"/>
                </a:solidFill>
              </a:rPr>
              <a:t>Se usa un enfoque modular en la carpeta </a:t>
            </a:r>
            <a:r>
              <a:rPr lang="es-CL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src</a:t>
            </a:r>
            <a:r>
              <a:rPr lang="es-CL">
                <a:solidFill>
                  <a:schemeClr val="dk1"/>
                </a:solidFill>
              </a:rPr>
              <a:t>, con subdirectorios como:</a:t>
            </a:r>
            <a:br>
              <a:rPr lang="es-CL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-CL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components</a:t>
            </a:r>
            <a:r>
              <a:rPr lang="es-CL">
                <a:solidFill>
                  <a:schemeClr val="dk1"/>
                </a:solidFill>
              </a:rPr>
              <a:t>: componentes reutilizables.</a:t>
            </a:r>
            <a:br>
              <a:rPr lang="es-CL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-CL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pages</a:t>
            </a:r>
            <a:r>
              <a:rPr lang="es-CL">
                <a:solidFill>
                  <a:schemeClr val="dk1"/>
                </a:solidFill>
              </a:rPr>
              <a:t>: vistas específicas.</a:t>
            </a:r>
            <a:br>
              <a:rPr lang="es-CL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-CL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routes</a:t>
            </a:r>
            <a:r>
              <a:rPr lang="es-CL">
                <a:solidFill>
                  <a:schemeClr val="dk1"/>
                </a:solidFill>
              </a:rPr>
              <a:t>: control de rutas.</a:t>
            </a:r>
            <a:br>
              <a:rPr lang="es-CL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-CL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shared</a:t>
            </a:r>
            <a:r>
              <a:rPr lang="es-CL">
                <a:solidFill>
                  <a:schemeClr val="dk1"/>
                </a:solidFill>
              </a:rPr>
              <a:t>: recursos compartidos.</a:t>
            </a:r>
            <a:br>
              <a:rPr lang="es-CL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>
                <a:solidFill>
                  <a:schemeClr val="dk1"/>
                </a:solidFill>
              </a:rPr>
              <a:t>Dashboards específicos:</a:t>
            </a:r>
            <a:br>
              <a:rPr lang="es-CL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-CL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Dashboard</a:t>
            </a:r>
            <a:r>
              <a:rPr lang="es-CL">
                <a:solidFill>
                  <a:schemeClr val="dk1"/>
                </a:solidFill>
              </a:rPr>
              <a:t>: para Coordinador.</a:t>
            </a:r>
            <a:br>
              <a:rPr lang="es-CL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-CL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DashboardProfesor</a:t>
            </a:r>
            <a:r>
              <a:rPr lang="es-CL">
                <a:solidFill>
                  <a:schemeClr val="dk1"/>
                </a:solidFill>
              </a:rPr>
              <a:t>: para Profesor.</a:t>
            </a:r>
            <a:br>
              <a:rPr lang="es-CL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</a:rPr>
              <a:t>El código sigue una separación clara de responsabilidades y escalabilidad.</a:t>
            </a:r>
            <a:br>
              <a:rPr lang="es-CL">
                <a:solidFill>
                  <a:schemeClr val="dk1"/>
                </a:solidFill>
              </a:rPr>
            </a:br>
            <a:r>
              <a:rPr lang="es-CL">
                <a:solidFill>
                  <a:schemeClr val="dk1"/>
                </a:solidFill>
              </a:rPr>
              <a:t> Todo esto se integra con </a:t>
            </a:r>
            <a:r>
              <a:rPr b="1" lang="es-CL">
                <a:solidFill>
                  <a:schemeClr val="dk1"/>
                </a:solidFill>
              </a:rPr>
              <a:t>React + Vite</a:t>
            </a:r>
            <a:r>
              <a:rPr lang="es-CL">
                <a:solidFill>
                  <a:schemeClr val="dk1"/>
                </a:solidFill>
              </a:rPr>
              <a:t> como stack principal del frontend.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300">
                <a:solidFill>
                  <a:schemeClr val="dk1"/>
                </a:solidFill>
              </a:rPr>
              <a:t>🔁 3. Vista de Procesos (Vista dinámica o de ejecución)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</a:rPr>
              <a:t>Aquí se visualiza la </a:t>
            </a:r>
            <a:r>
              <a:rPr b="1" lang="es-CL">
                <a:solidFill>
                  <a:schemeClr val="dk1"/>
                </a:solidFill>
              </a:rPr>
              <a:t>interacción entre usuarios y sistema en tiempo real</a:t>
            </a:r>
            <a:r>
              <a:rPr lang="es-CL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CL">
                <a:solidFill>
                  <a:schemeClr val="dk1"/>
                </a:solidFill>
              </a:rPr>
              <a:t>Actores</a:t>
            </a:r>
            <a:r>
              <a:rPr lang="es-CL">
                <a:solidFill>
                  <a:schemeClr val="dk1"/>
                </a:solidFill>
              </a:rPr>
              <a:t>: Coordinador y Profesor.</a:t>
            </a:r>
            <a:br>
              <a:rPr lang="es-CL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CL">
                <a:solidFill>
                  <a:schemeClr val="dk1"/>
                </a:solidFill>
              </a:rPr>
              <a:t>Flujos principales</a:t>
            </a:r>
            <a:r>
              <a:rPr lang="es-CL">
                <a:solidFill>
                  <a:schemeClr val="dk1"/>
                </a:solidFill>
              </a:rPr>
              <a:t>:</a:t>
            </a:r>
            <a:br>
              <a:rPr lang="es-CL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-CL">
                <a:solidFill>
                  <a:schemeClr val="dk1"/>
                </a:solidFill>
              </a:rPr>
              <a:t>Gestionan talleres.</a:t>
            </a:r>
            <a:br>
              <a:rPr lang="es-CL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-CL">
                <a:solidFill>
                  <a:schemeClr val="dk1"/>
                </a:solidFill>
              </a:rPr>
              <a:t>Supervisan estudiantes.</a:t>
            </a:r>
            <a:br>
              <a:rPr lang="es-CL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-CL">
                <a:solidFill>
                  <a:schemeClr val="dk1"/>
                </a:solidFill>
              </a:rPr>
              <a:t>Validan evidencias.</a:t>
            </a:r>
            <a:br>
              <a:rPr lang="es-CL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-CL">
                <a:solidFill>
                  <a:schemeClr val="dk1"/>
                </a:solidFill>
              </a:rPr>
              <a:t>Generan reportes.</a:t>
            </a:r>
            <a:br>
              <a:rPr lang="es-CL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>
                <a:solidFill>
                  <a:schemeClr val="dk1"/>
                </a:solidFill>
              </a:rPr>
              <a:t>El sistema procesa y transforma esa información en </a:t>
            </a:r>
            <a:r>
              <a:rPr b="1" lang="es-CL">
                <a:solidFill>
                  <a:schemeClr val="dk1"/>
                </a:solidFill>
              </a:rPr>
              <a:t>métricas de rendimiento</a:t>
            </a:r>
            <a:r>
              <a:rPr lang="es-CL">
                <a:solidFill>
                  <a:schemeClr val="dk1"/>
                </a:solidFill>
              </a:rPr>
              <a:t>.</a:t>
            </a:r>
            <a:br>
              <a:rPr lang="es-CL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</a:rPr>
              <a:t>Cada interacción desencadena llamadas API hacia Supabase, que opera con PostgreSQL para guardar, consultar o modificar datos en tiempo real.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300">
                <a:solidFill>
                  <a:schemeClr val="dk1"/>
                </a:solidFill>
              </a:rPr>
              <a:t>🖧 </a:t>
            </a:r>
            <a:r>
              <a:rPr b="1" lang="es-CL" sz="1300">
                <a:solidFill>
                  <a:schemeClr val="dk1"/>
                </a:solidFill>
              </a:rPr>
              <a:t>4. Vista Física (Infraestructura de despliegue)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</a:rPr>
              <a:t>Describe </a:t>
            </a:r>
            <a:r>
              <a:rPr b="1" lang="es-CL">
                <a:solidFill>
                  <a:schemeClr val="dk1"/>
                </a:solidFill>
              </a:rPr>
              <a:t>cómo se despliega el sistema en la red</a:t>
            </a:r>
            <a:r>
              <a:rPr lang="es-CL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>
                <a:solidFill>
                  <a:schemeClr val="dk1"/>
                </a:solidFill>
              </a:rPr>
              <a:t>Cliente accede vía HTTP/HTTPS al </a:t>
            </a:r>
            <a:r>
              <a:rPr b="1" lang="es-CL">
                <a:solidFill>
                  <a:schemeClr val="dk1"/>
                </a:solidFill>
              </a:rPr>
              <a:t>Servidor Web Estático</a:t>
            </a:r>
            <a:r>
              <a:rPr lang="es-CL">
                <a:solidFill>
                  <a:schemeClr val="dk1"/>
                </a:solidFill>
              </a:rPr>
              <a:t> (por ejemplo, Vercel o Netlify).</a:t>
            </a:r>
            <a:br>
              <a:rPr lang="es-CL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>
                <a:solidFill>
                  <a:schemeClr val="dk1"/>
                </a:solidFill>
              </a:rPr>
              <a:t>Este servidor entrega:</a:t>
            </a:r>
            <a:br>
              <a:rPr lang="es-CL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s-CL">
                <a:solidFill>
                  <a:schemeClr val="dk1"/>
                </a:solidFill>
              </a:rPr>
              <a:t>Assets</a:t>
            </a:r>
            <a:r>
              <a:rPr lang="es-CL">
                <a:solidFill>
                  <a:schemeClr val="dk1"/>
                </a:solidFill>
              </a:rPr>
              <a:t> desde un </a:t>
            </a:r>
            <a:r>
              <a:rPr b="1" lang="es-CL">
                <a:solidFill>
                  <a:schemeClr val="dk1"/>
                </a:solidFill>
              </a:rPr>
              <a:t>CDN</a:t>
            </a:r>
            <a:r>
              <a:rPr lang="es-CL">
                <a:solidFill>
                  <a:schemeClr val="dk1"/>
                </a:solidFill>
              </a:rPr>
              <a:t>.</a:t>
            </a:r>
            <a:br>
              <a:rPr lang="es-CL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s-CL">
                <a:solidFill>
                  <a:schemeClr val="dk1"/>
                </a:solidFill>
              </a:rPr>
              <a:t>Consultas API</a:t>
            </a:r>
            <a:r>
              <a:rPr lang="es-CL">
                <a:solidFill>
                  <a:schemeClr val="dk1"/>
                </a:solidFill>
              </a:rPr>
              <a:t> a </a:t>
            </a:r>
            <a:r>
              <a:rPr b="1" lang="es-CL">
                <a:solidFill>
                  <a:schemeClr val="dk1"/>
                </a:solidFill>
              </a:rPr>
              <a:t>Supabase</a:t>
            </a:r>
            <a:r>
              <a:rPr lang="es-CL">
                <a:solidFill>
                  <a:schemeClr val="dk1"/>
                </a:solidFill>
              </a:rPr>
              <a:t>.</a:t>
            </a:r>
            <a:br>
              <a:rPr lang="es-CL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>
                <a:solidFill>
                  <a:schemeClr val="dk1"/>
                </a:solidFill>
              </a:rPr>
              <a:t>Supabase gestiona tanto:</a:t>
            </a:r>
            <a:br>
              <a:rPr lang="es-CL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s-CL">
                <a:solidFill>
                  <a:schemeClr val="dk1"/>
                </a:solidFill>
              </a:rPr>
              <a:t>Autenticación</a:t>
            </a:r>
            <a:r>
              <a:rPr lang="es-CL">
                <a:solidFill>
                  <a:schemeClr val="dk1"/>
                </a:solidFill>
              </a:rPr>
              <a:t> (Supabase Auth).</a:t>
            </a:r>
            <a:br>
              <a:rPr lang="es-CL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s-CL">
                <a:solidFill>
                  <a:schemeClr val="dk1"/>
                </a:solidFill>
              </a:rPr>
              <a:t>Acceso y operación de datos</a:t>
            </a:r>
            <a:r>
              <a:rPr lang="es-CL">
                <a:solidFill>
                  <a:schemeClr val="dk1"/>
                </a:solidFill>
              </a:rPr>
              <a:t> en PostgreSQL.</a:t>
            </a:r>
            <a:br>
              <a:rPr lang="es-CL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</a:rPr>
              <a:t>Todo el flujo es asincrónico, seguro y eficiente.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300">
                <a:solidFill>
                  <a:schemeClr val="dk1"/>
                </a:solidFill>
              </a:rPr>
              <a:t>🧍</a:t>
            </a:r>
            <a:r>
              <a:rPr b="1" lang="es-CL" sz="1300">
                <a:solidFill>
                  <a:schemeClr val="dk1"/>
                </a:solidFill>
              </a:rPr>
              <a:t> 5. Vista de Casos de Uso (Escenarios funcionales del usuario)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</a:rPr>
              <a:t>Muestra </a:t>
            </a:r>
            <a:r>
              <a:rPr b="1" lang="es-CL">
                <a:solidFill>
                  <a:schemeClr val="dk1"/>
                </a:solidFill>
              </a:rPr>
              <a:t>qué hacen los usuarios y cómo interactúan con el sistema</a:t>
            </a:r>
            <a:r>
              <a:rPr lang="es-CL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CL">
                <a:solidFill>
                  <a:schemeClr val="dk1"/>
                </a:solidFill>
              </a:rPr>
              <a:t>Coordinador</a:t>
            </a:r>
            <a:r>
              <a:rPr lang="es-CL">
                <a:solidFill>
                  <a:schemeClr val="dk1"/>
                </a:solidFill>
              </a:rPr>
              <a:t>:</a:t>
            </a:r>
            <a:br>
              <a:rPr lang="es-CL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-CL">
                <a:solidFill>
                  <a:schemeClr val="dk1"/>
                </a:solidFill>
              </a:rPr>
              <a:t>Administra talleres.</a:t>
            </a:r>
            <a:br>
              <a:rPr lang="es-CL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-CL">
                <a:solidFill>
                  <a:schemeClr val="dk1"/>
                </a:solidFill>
              </a:rPr>
              <a:t>Supervisa evidencias.</a:t>
            </a:r>
            <a:br>
              <a:rPr lang="es-CL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-CL">
                <a:solidFill>
                  <a:schemeClr val="dk1"/>
                </a:solidFill>
              </a:rPr>
              <a:t>Genera reportes.</a:t>
            </a:r>
            <a:br>
              <a:rPr lang="es-CL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CL">
                <a:solidFill>
                  <a:schemeClr val="dk1"/>
                </a:solidFill>
              </a:rPr>
              <a:t>Profesor</a:t>
            </a:r>
            <a:r>
              <a:rPr lang="es-CL">
                <a:solidFill>
                  <a:schemeClr val="dk1"/>
                </a:solidFill>
              </a:rPr>
              <a:t>:</a:t>
            </a:r>
            <a:br>
              <a:rPr lang="es-CL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-CL">
                <a:solidFill>
                  <a:schemeClr val="dk1"/>
                </a:solidFill>
              </a:rPr>
              <a:t>Supervisa estudiantes.</a:t>
            </a:r>
            <a:br>
              <a:rPr lang="es-CL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-CL">
                <a:solidFill>
                  <a:schemeClr val="dk1"/>
                </a:solidFill>
              </a:rPr>
              <a:t>Valida evidencias.</a:t>
            </a:r>
            <a:br>
              <a:rPr lang="es-CL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-CL">
                <a:solidFill>
                  <a:schemeClr val="dk1"/>
                </a:solidFill>
              </a:rPr>
              <a:t>También genera reportes.</a:t>
            </a:r>
            <a:br>
              <a:rPr lang="es-CL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s-CL">
                <a:solidFill>
                  <a:schemeClr val="dk1"/>
                </a:solidFill>
              </a:rPr>
              <a:t>El sistema recibe estas órdenes y ejecuta los procesos correspondientes</a:t>
            </a:r>
            <a:endParaRPr/>
          </a:p>
        </p:txBody>
      </p:sp>
      <p:sp>
        <p:nvSpPr>
          <p:cNvPr id="171" name="Google Shape;17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2" name="Google Shape;18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9" name="Google Shape;18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4" name="Google Shape;20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6" name="Google Shape;21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3" name="Google Shape;22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9" name="Google Shape;22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 dir="l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Relationship Id="rId4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Relationship Id="rId4" Type="http://schemas.openxmlformats.org/officeDocument/2006/relationships/image" Target="../media/image8.png"/><Relationship Id="rId10" Type="http://schemas.openxmlformats.org/officeDocument/2006/relationships/image" Target="../media/image16.png"/><Relationship Id="rId9" Type="http://schemas.openxmlformats.org/officeDocument/2006/relationships/image" Target="../media/image21.png"/><Relationship Id="rId5" Type="http://schemas.openxmlformats.org/officeDocument/2006/relationships/image" Target="../media/image20.png"/><Relationship Id="rId6" Type="http://schemas.openxmlformats.org/officeDocument/2006/relationships/image" Target="../media/image18.png"/><Relationship Id="rId7" Type="http://schemas.openxmlformats.org/officeDocument/2006/relationships/image" Target="../media/image14.png"/><Relationship Id="rId8" Type="http://schemas.openxmlformats.org/officeDocument/2006/relationships/image" Target="../media/image2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Relationship Id="rId4" Type="http://schemas.openxmlformats.org/officeDocument/2006/relationships/image" Target="../media/image13.png"/><Relationship Id="rId5" Type="http://schemas.openxmlformats.org/officeDocument/2006/relationships/image" Target="../media/image17.png"/><Relationship Id="rId6" Type="http://schemas.openxmlformats.org/officeDocument/2006/relationships/image" Target="../media/image15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1" y="2410742"/>
            <a:ext cx="121920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</a:t>
            </a: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“Sk</a:t>
            </a: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illTrack</a:t>
            </a: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" name="Google Shape;86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44675" y="3549842"/>
            <a:ext cx="4486275" cy="141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91" name="Google Shape;9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2" name="Google Shape;92;p2"/>
          <p:cNvGrpSpPr/>
          <p:nvPr/>
        </p:nvGrpSpPr>
        <p:grpSpPr>
          <a:xfrm>
            <a:off x="4121026" y="1710819"/>
            <a:ext cx="7633553" cy="4350605"/>
            <a:chOff x="0" y="0"/>
            <a:chExt cx="7633553" cy="4350605"/>
          </a:xfrm>
        </p:grpSpPr>
        <p:sp>
          <p:nvSpPr>
            <p:cNvPr id="93" name="Google Shape;93;p2"/>
            <p:cNvSpPr/>
            <p:nvPr/>
          </p:nvSpPr>
          <p:spPr>
            <a:xfrm>
              <a:off x="0" y="0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35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2"/>
            <p:cNvSpPr txBox="1"/>
            <p:nvPr/>
          </p:nvSpPr>
          <p:spPr>
            <a:xfrm>
              <a:off x="1662653" y="0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Joaquin Vicente Mardones Lecaros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Programador Frontend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9144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135954" y="135954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35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0" y="1495502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35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2"/>
            <p:cNvSpPr txBox="1"/>
            <p:nvPr/>
          </p:nvSpPr>
          <p:spPr>
            <a:xfrm>
              <a:off x="1662653" y="1495502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Esteban Aguayo Bernales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Gestor de Base de datos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9144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135954" y="1631457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35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0" y="2991005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35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2"/>
            <p:cNvSpPr txBox="1"/>
            <p:nvPr/>
          </p:nvSpPr>
          <p:spPr>
            <a:xfrm>
              <a:off x="1662653" y="2991005"/>
              <a:ext cx="5970900" cy="135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Claudio Hernan Jara Alvarez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Programador Backend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9144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135954" y="3126960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35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2" name="Google Shape;102;p2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“Skilltrack”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238327" y="3058616"/>
            <a:ext cx="360896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4" name="Google Shape;104;p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transition spd="slow">
    <p:wipe dir="l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09" name="Google Shape;10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3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“Skilltrack”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"/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DEL PROYECTO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2" name="Google Shape;112;p3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3" name="Google Shape;113;p3"/>
          <p:cNvSpPr/>
          <p:nvPr/>
        </p:nvSpPr>
        <p:spPr>
          <a:xfrm>
            <a:off x="714900" y="2169775"/>
            <a:ext cx="4479600" cy="40926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CL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6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En el entorno educativo, la gestión y seguimiento de talleres extracurriculares suele realizarse de forma manual o dispersa, lo que genera dificultades para centralizar la información, monitorear el avance de los estudiantes y evaluar el impacto de las actividades. Esto provoca ineficiencias, poca visibilidad sobre los resultados y complica la toma de decisiones basada en datos</a:t>
            </a:r>
            <a:endParaRPr b="0" i="0" sz="16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7002500" y="2169775"/>
            <a:ext cx="4779000" cy="40926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CL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una plataforma digital integral que permita registrar, organizar y monitorear los talleres educativos, facilitando la gestión para docentes y administradores. La solución centraliza la información, automatiza el seguimiento de inscripciones, avances y resultados, e integra herramientas de reporte y análisis para apoyar la mejora continua y la toma de decisiones informada en la institución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20" name="Google Shape;12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4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“Skilltrack”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4"/>
          <p:cNvSpPr txBox="1"/>
          <p:nvPr/>
        </p:nvSpPr>
        <p:spPr>
          <a:xfrm>
            <a:off x="0" y="854779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3" name="Google Shape;123;p4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4" name="Google Shape;124;p4"/>
          <p:cNvSpPr txBox="1"/>
          <p:nvPr/>
        </p:nvSpPr>
        <p:spPr>
          <a:xfrm>
            <a:off x="1" y="3552921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614515" y="1511046"/>
            <a:ext cx="10962900" cy="1575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Desarrollar un sistema web para gestionar talleres extracurriculares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614525" y="4202871"/>
            <a:ext cx="10962900" cy="2544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</a:pPr>
            <a:r>
              <a:rPr b="0" i="0" lang="es-CL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Aumentar la eficiencia operativa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</a:pPr>
            <a:r>
              <a:rPr b="0" i="0" lang="es-CL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Facilitar la toma de decisiones estratégicas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</a:pPr>
            <a:r>
              <a:rPr b="0" i="0" lang="es-CL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Mejorar la transparencia y comunicación interna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31" name="Google Shape;13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5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“Skilltrack”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3" name="Google Shape;133;p5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4" name="Google Shape;134;p5"/>
          <p:cNvSpPr/>
          <p:nvPr/>
        </p:nvSpPr>
        <p:spPr>
          <a:xfrm>
            <a:off x="340350" y="1382700"/>
            <a:ext cx="4479600" cy="40926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Registro, edición y seguimiento de talleres extracurriculares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 de inscripciones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Generación de reportes y métricas clave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Autenticación y control de roles para usuarios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Registro de evidencias y resultados de talleres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6911675" y="1382700"/>
            <a:ext cx="4479600" cy="40926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limitaciones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s-CL" sz="16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Dependencia tecnológica de Supabase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s-CL" sz="16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Escalabilidad limitada para múltiples instituciones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s-CL" sz="16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Funcionalidad de accesibilidad y carga avanzada de evidencia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s-CL" sz="16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Seguridad basada en Supabase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s-CL" sz="16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El proyecto está destinado a tener una duración de 3 meses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40" name="Google Shape;140;g36777a7a672_0_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g36777a7a672_0_6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“Skilltrack”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g36777a7a672_0_6"/>
          <p:cNvSpPr txBox="1"/>
          <p:nvPr/>
        </p:nvSpPr>
        <p:spPr>
          <a:xfrm>
            <a:off x="0" y="1132105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 de trabajo para el desarrollo del proyecto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3" name="Google Shape;143;g36777a7a672_0_6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44" name="Google Shape;144;g36777a7a672_0_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76550" y="2152674"/>
            <a:ext cx="9103974" cy="395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49" name="Google Shape;14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7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Skilltrack</a:t>
            </a: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1" name="Google Shape;151;p7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52" name="Google Shape;152;p7" title="Screenshot 2025-06-29 22335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9475" y="1100562"/>
            <a:ext cx="10032974" cy="5171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57" name="Google Shape;157;g3671a6a8068_0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g3671a6a8068_0_1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Skilltrack</a:t>
            </a: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9" name="Google Shape;159;g3671a6a8068_0_1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60" name="Google Shape;160;g3671a6a8068_0_1" title="Screenshot 2025-06-29 2234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74425" y="918178"/>
            <a:ext cx="7774970" cy="58149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65" name="Google Shape;165;g36b74e5ae06_0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g36b74e5ae06_0_7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Skilltrack</a:t>
            </a: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7" name="Google Shape;167;g36b74e5ae06_0_7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68" name="Google Shape;168;g36b74e5ae06_0_7" title="imagen_2025-06-29_22390970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75400" y="2338802"/>
            <a:ext cx="7962900" cy="100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8" title="Untitled-2025-06-14-205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7925" y="0"/>
            <a:ext cx="9897953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scuelaIT Duoc UC - Escuela de Informática y Telecomunicaciones Duoc UC - Duoc  UC | LinkedIn" id="174" name="Google Shape;17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50602" y="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8"/>
          <p:cNvSpPr txBox="1"/>
          <p:nvPr/>
        </p:nvSpPr>
        <p:spPr>
          <a:xfrm rot="-5400000">
            <a:off x="-1377750" y="4672500"/>
            <a:ext cx="41064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100">
                <a:solidFill>
                  <a:schemeClr val="dk1"/>
                </a:solidFill>
              </a:rPr>
              <a:t>Vista de Procesos</a:t>
            </a:r>
            <a:r>
              <a:rPr lang="es-CL" sz="1100">
                <a:solidFill>
                  <a:schemeClr val="dk1"/>
                </a:solidFill>
              </a:rPr>
              <a:t> (Vista dinámica o de ejecución)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6" name="Google Shape;176;p8"/>
          <p:cNvSpPr txBox="1"/>
          <p:nvPr/>
        </p:nvSpPr>
        <p:spPr>
          <a:xfrm>
            <a:off x="6552800" y="205175"/>
            <a:ext cx="2497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100">
                <a:solidFill>
                  <a:schemeClr val="dk1"/>
                </a:solidFill>
              </a:rPr>
              <a:t>Vista de Desarrollo</a:t>
            </a:r>
            <a:r>
              <a:rPr lang="es-CL" sz="1100">
                <a:solidFill>
                  <a:schemeClr val="dk1"/>
                </a:solidFill>
              </a:rPr>
              <a:t> (Vista de implementación)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 txBox="1"/>
          <p:nvPr/>
        </p:nvSpPr>
        <p:spPr>
          <a:xfrm>
            <a:off x="2266950" y="0"/>
            <a:ext cx="20637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100">
                <a:solidFill>
                  <a:schemeClr val="dk1"/>
                </a:solidFill>
              </a:rPr>
              <a:t>Vista Lógica</a:t>
            </a:r>
            <a:r>
              <a:rPr lang="es-CL" sz="1100">
                <a:solidFill>
                  <a:schemeClr val="dk1"/>
                </a:solidFill>
              </a:rPr>
              <a:t> (Arquitectura funcional del sistema)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 txBox="1"/>
          <p:nvPr/>
        </p:nvSpPr>
        <p:spPr>
          <a:xfrm>
            <a:off x="6648450" y="5300225"/>
            <a:ext cx="2010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100">
                <a:solidFill>
                  <a:schemeClr val="dk1"/>
                </a:solidFill>
              </a:rPr>
              <a:t>Vista Física</a:t>
            </a:r>
            <a:r>
              <a:rPr lang="es-CL" sz="1100">
                <a:solidFill>
                  <a:schemeClr val="dk1"/>
                </a:solidFill>
              </a:rPr>
              <a:t> (Infraestructura de despliegue)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 txBox="1"/>
          <p:nvPr/>
        </p:nvSpPr>
        <p:spPr>
          <a:xfrm>
            <a:off x="3589850" y="3733900"/>
            <a:ext cx="2106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100">
                <a:solidFill>
                  <a:schemeClr val="dk1"/>
                </a:solidFill>
              </a:rPr>
              <a:t>Vista de Casos de Uso</a:t>
            </a:r>
            <a:r>
              <a:rPr lang="es-CL" sz="1100">
                <a:solidFill>
                  <a:schemeClr val="dk1"/>
                </a:solidFill>
              </a:rPr>
              <a:t> (Escenarios funcionales del usuario)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4" name="Google Shape;184;p9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85" name="Google Shape;185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00149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scuelaIT Duoc UC - Escuela de Informática y Telecomunicaciones Duoc UC - Duoc  UC | LinkedIn" id="186" name="Google Shape;18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50602" y="52575"/>
            <a:ext cx="3141406" cy="7853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91" name="Google Shape;19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0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“Skilltrack”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0"/>
          <p:cNvSpPr txBox="1"/>
          <p:nvPr/>
        </p:nvSpPr>
        <p:spPr>
          <a:xfrm>
            <a:off x="0" y="992905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Tecnologías utilizadas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4" name="Google Shape;194;p10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95" name="Google Shape;19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91500" y="1817700"/>
            <a:ext cx="2570950" cy="1446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32475" y="3331913"/>
            <a:ext cx="1761324" cy="181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61551" y="3979375"/>
            <a:ext cx="1541258" cy="942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890600" y="3274875"/>
            <a:ext cx="2570950" cy="192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0" title="vitest-logo-png_seeklogo-434979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662450" y="2002876"/>
            <a:ext cx="1075774" cy="107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0" title="images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002800" y="1962099"/>
            <a:ext cx="837325" cy="115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0" title="Diseño_sin_título-removebg-preview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104700" y="1758877"/>
            <a:ext cx="1541250" cy="14535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06" name="Google Shape;20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1"/>
          <p:cNvSpPr txBox="1"/>
          <p:nvPr/>
        </p:nvSpPr>
        <p:spPr>
          <a:xfrm>
            <a:off x="1" y="465420"/>
            <a:ext cx="12192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CL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 obtenidos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8" name="Google Shape;208;p11" title="test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650" y="1152995"/>
            <a:ext cx="8001000" cy="1228725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1"/>
          <p:cNvSpPr txBox="1"/>
          <p:nvPr/>
        </p:nvSpPr>
        <p:spPr>
          <a:xfrm>
            <a:off x="8195650" y="1055775"/>
            <a:ext cx="3996300" cy="21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Renderizado</a:t>
            </a: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Verificar que todos los componentes se montan sin errores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Funcionalidad básica</a:t>
            </a: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Confirmar que el contenido esperado aparece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Integración</a:t>
            </a: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Probar que los componentes funcionan con React Router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Mocking</a:t>
            </a: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Simular dependencias externas (Supabase, autenticación)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0" name="Google Shape;210;p11" title="imagen_2025-07-07_01030882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38800" y="2862437"/>
            <a:ext cx="3214650" cy="3932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11" title="imagen_2025-07-07_010525063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18675" y="2989375"/>
            <a:ext cx="2965262" cy="367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11" title="imagen_2025-07-07_010636586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04800" y="2904632"/>
            <a:ext cx="2999226" cy="3848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1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309025" y="2989375"/>
            <a:ext cx="2882976" cy="3805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18" name="Google Shape;21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2"/>
          <p:cNvSpPr txBox="1"/>
          <p:nvPr/>
        </p:nvSpPr>
        <p:spPr>
          <a:xfrm>
            <a:off x="1" y="1360773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Obstáculos presentados durante el desarrollo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2"/>
          <p:cNvSpPr txBox="1"/>
          <p:nvPr/>
        </p:nvSpPr>
        <p:spPr>
          <a:xfrm>
            <a:off x="720825" y="2130225"/>
            <a:ext cx="10458300" cy="29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s-CL" sz="2000">
                <a:solidFill>
                  <a:srgbClr val="000000"/>
                </a:solidFill>
              </a:rPr>
              <a:t>Definición de los objetivos específicos</a:t>
            </a:r>
            <a:endParaRPr sz="2000">
              <a:solidFill>
                <a:srgbClr val="000000"/>
              </a:solidFill>
              <a:extLst>
                <a:ext uri="http://customooxmlschemas.google.com/">
                  <go:slidesCustomData xmlns:go="http://customooxmlschemas.google.com/" textRoundtripDataId="0"/>
                </a:ext>
              </a:extLst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s-CL" sz="2000">
                <a:solidFill>
                  <a:srgbClr val="000000"/>
                </a:solidFill>
                <a:extLst>
                  <a:ext uri="http://customooxmlschemas.google.com/">
                    <go:slidesCustomData xmlns:go="http://customooxmlschemas.google.com/" textRoundtripDataId="1"/>
                  </a:ext>
                </a:extLst>
              </a:rPr>
              <a:t>Latencia en solicitudes a la base de datos</a:t>
            </a:r>
            <a:endParaRPr sz="2000">
              <a:solidFill>
                <a:srgbClr val="000000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s-CL" sz="2000">
                <a:solidFill>
                  <a:srgbClr val="000000"/>
                </a:solidFill>
              </a:rPr>
              <a:t>Diseño de una interfaz intuitiva y funcional</a:t>
            </a:r>
            <a:endParaRPr sz="2000">
              <a:solidFill>
                <a:srgbClr val="000000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s-CL" sz="2000"/>
              <a:t>Falta de experiencia en el negocio</a:t>
            </a:r>
            <a:endParaRPr sz="2000"/>
          </a:p>
        </p:txBody>
      </p:sp>
    </p:spTree>
  </p:cSld>
  <p:clrMapOvr>
    <a:masterClrMapping/>
  </p:clrMapOvr>
  <p:transition spd="slow">
    <p:wipe dir="l"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25" name="Google Shape;22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3"/>
          <p:cNvSpPr txBox="1"/>
          <p:nvPr/>
        </p:nvSpPr>
        <p:spPr>
          <a:xfrm>
            <a:off x="1" y="1106292"/>
            <a:ext cx="121920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DEMOSTRACIÓN DEL RESULTADO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31" name="Google Shape;23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4"/>
          <p:cNvSpPr txBox="1"/>
          <p:nvPr/>
        </p:nvSpPr>
        <p:spPr>
          <a:xfrm>
            <a:off x="0" y="3044279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PREGUNTAS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 dir="l"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2023-10-28T21:12:11Z</dcterms:created>
  <dc:creator>Gerardo Galan Cruz</dc:creator>
</cp:coreProperties>
</file>